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1FC"/>
    <a:srgbClr val="F5F8FF"/>
    <a:srgbClr val="46A3A0"/>
    <a:srgbClr val="0B1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78BFFA-A4A3-5F1E-6BE5-D9611162E8C0}" v="225" dt="2026-08-18T04:27:46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E33"/>
                </a:solidFill>
                <a:latin typeface="Calibri"/>
              </a:defRPr>
            </a:pPr>
            <a:r>
              <a:rPr lang="en-GB" sz="1300" b="0" i="0" u="none" strike="noStrike">
                <a:solidFill>
                  <a:srgbClr val="0B2E33"/>
                </a:solidFill>
                <a:latin typeface="Calibri"/>
              </a:rPr>
              <a:t>Total Revenue, FY2021A–FY2025A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2021A</c:v>
                </c:pt>
                <c:pt idx="1">
                  <c:v>2022A</c:v>
                </c:pt>
                <c:pt idx="2">
                  <c:v>2023A</c:v>
                </c:pt>
                <c:pt idx="3">
                  <c:v>2024A</c:v>
                </c:pt>
                <c:pt idx="4">
                  <c:v>2025A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28318</c:v>
                </c:pt>
                <c:pt idx="1">
                  <c:v>28541</c:v>
                </c:pt>
                <c:pt idx="2">
                  <c:v>34124</c:v>
                </c:pt>
                <c:pt idx="3">
                  <c:v>45043</c:v>
                </c:pt>
                <c:pt idx="4">
                  <c:v>65179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8D-41AE-B0B4-3219354935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E7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7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E7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Trulicity ($M)</c:v>
                </c:pt>
              </c:strCache>
            </c:strRef>
          </c:tx>
          <c:spPr>
            <a:ln w="31750" cap="flat">
              <a:solidFill>
                <a:srgbClr val="5C6E7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C6E71"/>
              </a:solidFill>
              <a:ln w="9525" cap="flat">
                <a:solidFill>
                  <a:srgbClr val="5C6E7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6472</c:v>
                </c:pt>
                <c:pt idx="1">
                  <c:v>7440</c:v>
                </c:pt>
                <c:pt idx="2">
                  <c:v>7133</c:v>
                </c:pt>
                <c:pt idx="3">
                  <c:v>5254</c:v>
                </c:pt>
                <c:pt idx="4">
                  <c:v>4276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52-46FC-9C9C-0726977ECE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Mounjaro ($M)</c:v>
                </c:pt>
              </c:strCache>
            </c:strRef>
          </c:tx>
          <c:spPr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482.5</c:v>
                </c:pt>
                <c:pt idx="2">
                  <c:v>5163</c:v>
                </c:pt>
                <c:pt idx="3">
                  <c:v>11540</c:v>
                </c:pt>
                <c:pt idx="4">
                  <c:v>22965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152-46FC-9C9C-0726977ECE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E7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7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E7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C6E7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Inventory Outstanding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194</c:v>
                </c:pt>
                <c:pt idx="1">
                  <c:v>237</c:v>
                </c:pt>
                <c:pt idx="2">
                  <c:v>298</c:v>
                </c:pt>
                <c:pt idx="3">
                  <c:v>329</c:v>
                </c:pt>
                <c:pt idx="4">
                  <c:v>454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27-452E-ACA3-395C439C2E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E7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7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E7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Low ($B)</c:v>
                </c:pt>
              </c:strCache>
            </c:strRef>
          </c:tx>
          <c:spPr>
            <a:solidFill>
              <a:srgbClr val="5C6E7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Original
(Feb 2026)</c:v>
                </c:pt>
                <c:pt idx="1">
                  <c:v>Post-Q1
(Apr 2026)</c:v>
                </c:pt>
                <c:pt idx="2">
                  <c:v>Current
(Aug 2026)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82</c:v>
                </c:pt>
                <c:pt idx="2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DB-4CF8-A9E9-F0820FBEBD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High ($B)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Original
(Feb 2026)</c:v>
                </c:pt>
                <c:pt idx="1">
                  <c:v>Post-Q1
(Apr 2026)</c:v>
                </c:pt>
                <c:pt idx="2">
                  <c:v>Current
(Aug 2026)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83</c:v>
                </c:pt>
                <c:pt idx="1">
                  <c:v>85</c:v>
                </c:pt>
                <c:pt idx="2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DB-4CF8-A9E9-F0820FBEBD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E7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CE7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E7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C6E7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Bear</c:v>
                </c:pt>
                <c:pt idx="1">
                  <c:v>Base</c:v>
                </c:pt>
                <c:pt idx="2">
                  <c:v>Bull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105</c:v>
                </c:pt>
                <c:pt idx="1">
                  <c:v>139.30000000000001</c:v>
                </c:pt>
                <c:pt idx="2">
                  <c:v>176.2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A2-4C2F-9909-DF9407BC15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E7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7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E7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8CDA4-F020-4A50-842A-8E29B61FFA19}" type="datetimeFigureOut">
              <a:t>8/19/2026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733E4E-8799-4285-BFED-E4AB01B76AA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710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53627" y="1531902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400" b="1" kern="0" spc="300">
                <a:solidFill>
                  <a:srgbClr val="46A3A0"/>
                </a:solidFill>
                <a:latin typeface="Calibri"/>
                <a:ea typeface="Calibri"/>
                <a:cs typeface="Calibri"/>
              </a:rPr>
              <a:t>ELI LILLY AND COMPANY | NYSE: LLY</a:t>
            </a:r>
            <a:endParaRPr lang="en-US" sz="2400">
              <a:solidFill>
                <a:srgbClr val="46A3A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Nova"/>
                <a:ea typeface="Cambria" pitchFamily="34" charset="-122"/>
                <a:cs typeface="Cambria" pitchFamily="34" charset="-120"/>
              </a:rPr>
              <a:t>FP&amp;A Analysis &amp; 5-Year Outlook</a:t>
            </a:r>
            <a:endParaRPr lang="en-US" sz="4400">
              <a:latin typeface="Arial Nova"/>
            </a:endParaRPr>
          </a:p>
        </p:txBody>
      </p:sp>
      <p:sp>
        <p:nvSpPr>
          <p:cNvPr id="7" name="Text 5"/>
          <p:cNvSpPr/>
          <p:nvPr/>
        </p:nvSpPr>
        <p:spPr>
          <a:xfrm>
            <a:off x="653627" y="2972929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Performance, Growth Drivers, Forecast &amp; Scenario Range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627" y="4022796"/>
            <a:ext cx="73152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6A3A0"/>
                </a:solidFill>
                <a:latin typeface="Calibri"/>
                <a:ea typeface="Calibri"/>
                <a:cs typeface="Calibri"/>
              </a:rPr>
              <a:t>FY2021A–FY2025A Actuals   |   FY2026E–FY2030E Forecast
</a:t>
            </a:r>
          </a:p>
        </p:txBody>
      </p:sp>
      <p:sp>
        <p:nvSpPr>
          <p:cNvPr id="9" name="Text 7"/>
          <p:cNvSpPr/>
          <p:nvPr/>
        </p:nvSpPr>
        <p:spPr>
          <a:xfrm>
            <a:off x="653627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AC4"/>
                </a:solidFill>
                <a:latin typeface="Calibri"/>
                <a:ea typeface="Calibri"/>
                <a:cs typeface="Calibri"/>
              </a:rPr>
              <a:t>Source: SEC 10-K filings, company guidance (Feb/Apr/Aug 2026)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5212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46A3A0"/>
                </a:solidFill>
                <a:latin typeface="Arial Nova"/>
                <a:ea typeface="Cambria"/>
                <a:cs typeface="Cambria" pitchFamily="34" charset="-120"/>
              </a:rPr>
              <a:t>$65.2B      $139.9B</a:t>
            </a:r>
            <a:endParaRPr lang="en-US" sz="3000">
              <a:solidFill>
                <a:srgbClr val="46A3A0"/>
              </a:solidFill>
              <a:latin typeface="Arial Nova"/>
              <a:ea typeface="Cambri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5806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revenue, FY2025A to FY2030E base case</a:t>
            </a:r>
            <a:endParaRPr lang="en-US" sz="1200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EB26F02-38B7-4AE6-5888-EC89702F2899}"/>
              </a:ext>
            </a:extLst>
          </p:cNvPr>
          <p:cNvSpPr/>
          <p:nvPr/>
        </p:nvSpPr>
        <p:spPr>
          <a:xfrm>
            <a:off x="2169724" y="5391798"/>
            <a:ext cx="334943" cy="287078"/>
          </a:xfrm>
          <a:prstGeom prst="rightArrow">
            <a:avLst/>
          </a:prstGeom>
          <a:solidFill>
            <a:srgbClr val="46A3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dirty="0">
              <a:solidFill>
                <a:srgbClr val="46A3A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000000"/>
                </a:solidFill>
                <a:latin typeface="Arial Nova"/>
                <a:ea typeface="+mn-lt"/>
                <a:cs typeface="+mn-lt"/>
              </a:rPr>
              <a:t>Rapid Growth Driven by a Single Franchise</a:t>
            </a:r>
            <a:endParaRPr lang="en-US" b="1">
              <a:latin typeface="Arial Nova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i="1">
                <a:solidFill>
                  <a:srgbClr val="5C6E71"/>
                </a:solidFill>
                <a:latin typeface="Calibri"/>
                <a:ea typeface="Calibri"/>
                <a:cs typeface="Calibri"/>
              </a:rPr>
              <a:t>Revenue nearly doubled from FY2024 to FY2025 - almost entirely on the strength of Mounjaro and Zepbound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4008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600200"/>
            <a:ext cx="4343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43800" y="17099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6A3A0"/>
                </a:solidFill>
                <a:latin typeface="Arial Nova"/>
                <a:ea typeface="Cambria"/>
                <a:cs typeface="Cambria" pitchFamily="34" charset="-120"/>
              </a:rPr>
              <a:t>56%</a:t>
            </a:r>
            <a:endParaRPr lang="en-US" sz="3000">
              <a:solidFill>
                <a:srgbClr val="46A3A0"/>
              </a:solidFill>
              <a:latin typeface="Arial Nova"/>
              <a:ea typeface="Cambria"/>
            </a:endParaRPr>
          </a:p>
        </p:txBody>
      </p:sp>
      <p:sp>
        <p:nvSpPr>
          <p:cNvPr id="7" name="Text 4"/>
          <p:cNvSpPr/>
          <p:nvPr/>
        </p:nvSpPr>
        <p:spPr>
          <a:xfrm>
            <a:off x="7543800" y="22860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of FY2025 revenue came from the GLP-1 franchise (Mounjaro + </a:t>
            </a:r>
            <a:r>
              <a:rPr lang="en-US" sz="110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Zepbound) which was $0 in 2021.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315200" y="3136392"/>
            <a:ext cx="4343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3246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6A3A0"/>
                </a:solidFill>
                <a:latin typeface="Arial Nova"/>
                <a:ea typeface="Cambria"/>
                <a:cs typeface="Cambria" pitchFamily="34" charset="-120"/>
              </a:rPr>
              <a:t>+130%</a:t>
            </a:r>
            <a:endParaRPr lang="en-US" sz="3000">
              <a:solidFill>
                <a:srgbClr val="46A3A0"/>
              </a:solidFill>
              <a:latin typeface="Arial Nova"/>
              <a:ea typeface="Cambria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543800" y="38221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total revenue growth from FY2021A to FY2025A.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0" y="4672584"/>
            <a:ext cx="4343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543800" y="47823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6A3A0"/>
                </a:solidFill>
                <a:latin typeface="Arial Nova"/>
                <a:ea typeface="Cambria"/>
                <a:cs typeface="Cambria" pitchFamily="34" charset="-120"/>
              </a:rPr>
              <a:t>+18 pts</a:t>
            </a:r>
            <a:endParaRPr lang="en-US" sz="3000">
              <a:solidFill>
                <a:srgbClr val="46A3A0"/>
              </a:solidFill>
              <a:latin typeface="Arial Nova"/>
              <a:ea typeface="Cambria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543800" y="535838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operating margin expansion over the same period (22.4% to 40.3%)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000000"/>
                </a:solidFill>
                <a:latin typeface="Arial Nova"/>
                <a:ea typeface="+mn-lt"/>
                <a:cs typeface="+mn-lt"/>
              </a:rPr>
              <a:t>Growth Comes with Increasing Pressure</a:t>
            </a:r>
            <a:endParaRPr lang="en-US" b="1">
              <a:latin typeface="Arial Nov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dynamics management should actively monitor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Cannibalization</a:t>
            </a:r>
            <a:endParaRPr lang="en-US" sz="1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68680" y="2286000"/>
          <a:ext cx="48463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868680" y="4709160"/>
            <a:ext cx="484632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5000"/>
              </a:lnSpc>
            </a:pPr>
            <a:r>
              <a:rPr lang="en-US" sz="1200" b="1" dirty="0">
                <a:latin typeface="Calibri"/>
                <a:ea typeface="Calibri"/>
                <a:cs typeface="Calibri"/>
              </a:rPr>
              <a:t>Trulicity revenue fell 42% </a:t>
            </a:r>
            <a:r>
              <a:rPr lang="en-US" sz="1200" dirty="0">
                <a:latin typeface="Calibri"/>
                <a:ea typeface="Calibri"/>
                <a:cs typeface="Calibri"/>
              </a:rPr>
              <a:t>from its 2022 peak ($7.44B) to 2025 ($4.28B) as </a:t>
            </a:r>
            <a:r>
              <a:rPr lang="en-US" sz="1200">
                <a:latin typeface="Calibri"/>
                <a:ea typeface="Calibri"/>
                <a:cs typeface="Calibri"/>
              </a:rPr>
              <a:t>patients switch to Mounjaro/Zepbound within Lilly's own portfolio.</a:t>
            </a:r>
            <a:r>
              <a:rPr lang="en-US" sz="1200" dirty="0">
                <a:latin typeface="Calibri"/>
                <a:ea typeface="Calibri"/>
                <a:cs typeface="Calibri"/>
              </a:rPr>
              <a:t> </a:t>
            </a:r>
            <a:r>
              <a:rPr lang="en-US" sz="1200">
                <a:ea typeface="+mn-lt"/>
                <a:cs typeface="+mn-lt"/>
              </a:rPr>
              <a:t>Net positive given the expanding obesity opportunity, though legacy franchise declines remain a key watchpoint.</a:t>
            </a:r>
            <a:endParaRPr lang="en-US" sz="1200" b="1">
              <a:latin typeface="Calibri"/>
              <a:ea typeface="Calibri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21792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7960" y="17830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Capital Strain</a:t>
            </a:r>
            <a:endParaRPr lang="en-US" sz="18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6537960" y="2286000"/>
          <a:ext cx="48463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6537960" y="4573693"/>
            <a:ext cx="484632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5000"/>
              </a:lnSpc>
            </a:pPr>
            <a:r>
              <a:rPr lang="en-US" sz="1200" b="1" dirty="0">
                <a:latin typeface="Calibri"/>
                <a:ea typeface="Calibri"/>
                <a:cs typeface="Calibri"/>
              </a:rPr>
              <a:t>Inventory days rose from 194 to 454 </a:t>
            </a:r>
            <a:r>
              <a:rPr lang="en-US" sz="1200">
                <a:latin typeface="Calibri"/>
                <a:ea typeface="Calibri"/>
                <a:cs typeface="Calibri"/>
              </a:rPr>
              <a:t>between 2021-2025. Lilly now </a:t>
            </a:r>
            <a:r>
              <a:rPr lang="en-US" sz="1200" dirty="0">
                <a:latin typeface="Calibri"/>
                <a:ea typeface="Calibri"/>
                <a:cs typeface="Calibri"/>
              </a:rPr>
              <a:t>holds over a year of inventory, driven by an aggressive manufacturing buildout (capex +500% over the same period) to keep pace with GLP-1 demand.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33"/>
                </a:solidFill>
                <a:latin typeface="Arial Nova"/>
                <a:ea typeface="Cambria" pitchFamily="34" charset="-122"/>
                <a:cs typeface="Cambria" pitchFamily="34" charset="-120"/>
              </a:rPr>
              <a:t>5-Year Outlook: A Wide Range of Outcomes</a:t>
            </a:r>
            <a:endParaRPr lang="en-US" sz="3000" dirty="0">
              <a:latin typeface="Arial Nov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E71"/>
                </a:solidFill>
                <a:latin typeface="Calibri"/>
                <a:ea typeface="Calibri"/>
                <a:cs typeface="Calibri"/>
              </a:rPr>
              <a:t>Near-term guidance has been raised twice in </a:t>
            </a:r>
            <a:r>
              <a:rPr lang="en-US" sz="1400" i="1">
                <a:solidFill>
                  <a:srgbClr val="5C6E71"/>
                </a:solidFill>
                <a:latin typeface="Calibri"/>
                <a:ea typeface="Calibri"/>
                <a:cs typeface="Calibri"/>
              </a:rPr>
              <a:t>2026,</a:t>
            </a:r>
            <a:r>
              <a:rPr lang="en-US" sz="1400" i="1" dirty="0">
                <a:solidFill>
                  <a:srgbClr val="5C6E71"/>
                </a:solidFill>
                <a:latin typeface="Calibri"/>
                <a:ea typeface="Calibri"/>
                <a:cs typeface="Calibri"/>
              </a:rPr>
              <a:t> but long-term uncertainty widens fast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FY2026E Guidance (Raised Twice This Year)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011680"/>
          <a:ext cx="53949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FY2030E Revenue (Bear / Base / Bull)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7" name="Chart 1"/>
          <p:cNvGraphicFramePr/>
          <p:nvPr/>
        </p:nvGraphicFramePr>
        <p:xfrm>
          <a:off x="6263640" y="2011680"/>
          <a:ext cx="53949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6263640" y="6035040"/>
            <a:ext cx="53949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i="1">
                <a:solidFill>
                  <a:srgbClr val="5C6E71"/>
                </a:solidFill>
                <a:latin typeface="Calibri"/>
                <a:ea typeface="Calibri"/>
                <a:cs typeface="Calibri"/>
              </a:rPr>
              <a:t>$71B spread between Bear and Bull by FY2030E, wider than Lilly's entire FY2021 revenue </a:t>
            </a:r>
            <a:r>
              <a:rPr lang="en-US" sz="1100" i="1" dirty="0">
                <a:solidFill>
                  <a:srgbClr val="5C6E71"/>
                </a:solidFill>
                <a:latin typeface="Calibri"/>
                <a:ea typeface="Calibri"/>
                <a:cs typeface="Calibri"/>
              </a:rPr>
              <a:t>base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Nova"/>
                <a:ea typeface="Cambria" pitchFamily="34" charset="-122"/>
                <a:cs typeface="Cambria" pitchFamily="34" charset="-120"/>
              </a:rPr>
              <a:t>Key Takeaways for Management</a:t>
            </a:r>
            <a:endParaRPr lang="en-US" sz="3000" dirty="0">
              <a:latin typeface="Arial Nov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46A3A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3898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GLP-1 supply, not just demand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64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EBF1FC"/>
                </a:solidFill>
                <a:latin typeface="Calibri"/>
                <a:ea typeface="Calibri"/>
                <a:cs typeface="Calibri"/>
              </a:rPr>
              <a:t>Capex has grown +500% to fund manufacturing capacity. Sustaining this investment is now a competitive necessity, not discretionary spend.</a:t>
            </a:r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46A3A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5786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working capital efficiency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95351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EBF1FC"/>
                </a:solidFill>
                <a:latin typeface="Calibri"/>
                <a:ea typeface="Calibri"/>
                <a:cs typeface="Calibri"/>
              </a:rPr>
              <a:t>454 days of inventory outstanding ties up significant cash. It </a:t>
            </a:r>
            <a:r>
              <a:rPr lang="en-US" sz="1250">
                <a:solidFill>
                  <a:srgbClr val="EBF1FC"/>
                </a:solidFill>
                <a:ea typeface="+mn-lt"/>
                <a:cs typeface="+mn-lt"/>
              </a:rPr>
              <a:t>deserves a closer evaluation as the manufacturing buildout progresses.</a:t>
            </a:r>
            <a:endParaRPr lang="en-US" sz="1250">
              <a:solidFill>
                <a:srgbClr val="EBF1F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46A3A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7673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guidance execution discipline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14223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EBF1FC"/>
                </a:solidFill>
                <a:latin typeface="Calibri"/>
                <a:ea typeface="Calibri"/>
                <a:cs typeface="Calibri"/>
              </a:rPr>
              <a:t>Two consecutive guidance raises in 2026 is a strong signal </a:t>
            </a:r>
            <a:r>
              <a:rPr lang="en-US" sz="1250">
                <a:solidFill>
                  <a:srgbClr val="EBF1FC"/>
                </a:solidFill>
                <a:ea typeface="+mn-lt"/>
                <a:cs typeface="+mn-lt"/>
              </a:rPr>
              <a:t>but maintaining Street credibility matters more than any single earnings beat.</a:t>
            </a:r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46A3A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9560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capital allocation for a wide outcome range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33095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EBF1FC"/>
                </a:solidFill>
                <a:latin typeface="Calibri"/>
                <a:ea typeface="Calibri"/>
                <a:cs typeface="Calibri"/>
              </a:rPr>
              <a:t>FY2030E scenarios span $105B-$176B. Capital plans, hiring and facility investment should be stress-tested against the Bear case, not just the Base case.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149</cp:revision>
  <dcterms:created xsi:type="dcterms:W3CDTF">2026-08-18T00:58:17Z</dcterms:created>
  <dcterms:modified xsi:type="dcterms:W3CDTF">2026-08-20T06:19:08Z</dcterms:modified>
</cp:coreProperties>
</file>